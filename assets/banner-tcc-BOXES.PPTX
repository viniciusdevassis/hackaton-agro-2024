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3"/>
  </p:sldMasterIdLst>
  <p:notesMasterIdLst>
    <p:notesMasterId r:id="rId5"/>
  </p:notesMasterIdLst>
  <p:handoutMasterIdLst>
    <p:handoutMasterId r:id="rId6"/>
  </p:handoutMasterIdLst>
  <p:sldIdLst>
    <p:sldId id="257" r:id="rId4"/>
  </p:sldIdLst>
  <p:sldSz cx="34290000" cy="45720000"/>
  <p:notesSz cx="9723438" cy="6858000"/>
  <p:defaultTextStyle>
    <a:defPPr>
      <a:defRPr lang="pt-BR"/>
    </a:defPPr>
    <a:lvl1pPr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0">
          <p15:clr>
            <a:srgbClr val="A4A3A4"/>
          </p15:clr>
        </p15:guide>
        <p15:guide id="2" pos="1080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 da Purificação Pinto" initials="RdPP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9"/>
    <a:srgbClr val="314496"/>
    <a:srgbClr val="FFAA2D"/>
    <a:srgbClr val="FA9500"/>
    <a:srgbClr val="FFA726"/>
    <a:srgbClr val="2E3B87"/>
    <a:srgbClr val="0066CC"/>
    <a:srgbClr val="FF0000"/>
    <a:srgbClr val="99FFCC"/>
    <a:srgbClr val="0630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843" autoAdjust="0"/>
    <p:restoredTop sz="99828" autoAdjust="0"/>
  </p:normalViewPr>
  <p:slideViewPr>
    <p:cSldViewPr>
      <p:cViewPr>
        <p:scale>
          <a:sx n="33" d="100"/>
          <a:sy n="33" d="100"/>
        </p:scale>
        <p:origin x="234" y="-6066"/>
      </p:cViewPr>
      <p:guideLst>
        <p:guide orient="horz" pos="14400"/>
        <p:guide pos="10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13225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10213" y="0"/>
            <a:ext cx="4213225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4213225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10213" y="6513513"/>
            <a:ext cx="4213225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49CADDB-610F-47F5-BBC9-FDCA7211D286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895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13225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07038" y="0"/>
            <a:ext cx="4214812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98900" y="514350"/>
            <a:ext cx="1928813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3257550"/>
            <a:ext cx="777875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42132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07038" y="6513513"/>
            <a:ext cx="421481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5545EF4-E2B5-4CBC-8FCE-8A1517C2EC19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9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503D34-86C2-49CB-B29E-43B8A2D8EFED}" type="slidenum">
              <a:rPr lang="pt-BR"/>
              <a:pPr/>
              <a:t>1</a:t>
            </a:fld>
            <a:endParaRPr lang="pt-BR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71750" y="14202837"/>
            <a:ext cx="29146500" cy="980016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43500" y="25908000"/>
            <a:ext cx="24003000" cy="1168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5F3D-61DC-4597-895E-5D303E1A63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7B6-E51C-4A36-BD19-BEE1DC3949D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08674" y="29379337"/>
            <a:ext cx="29146500" cy="9080500"/>
          </a:xfrm>
        </p:spPr>
        <p:txBody>
          <a:bodyPr anchor="t"/>
          <a:lstStyle>
            <a:lvl1pPr algn="l">
              <a:defRPr sz="20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08674" y="19378090"/>
            <a:ext cx="29146500" cy="10001247"/>
          </a:xfrm>
        </p:spPr>
        <p:txBody>
          <a:bodyPr anchor="b"/>
          <a:lstStyle>
            <a:lvl1pPr marL="0" indent="0">
              <a:buNone/>
              <a:defRPr sz="10000">
                <a:solidFill>
                  <a:schemeClr val="tx1">
                    <a:tint val="75000"/>
                  </a:schemeClr>
                </a:solidFill>
              </a:defRPr>
            </a:lvl1pPr>
            <a:lvl2pPr marL="2286000" indent="0">
              <a:buNone/>
              <a:defRPr sz="9000">
                <a:solidFill>
                  <a:schemeClr val="tx1">
                    <a:tint val="75000"/>
                  </a:schemeClr>
                </a:solidFill>
              </a:defRPr>
            </a:lvl2pPr>
            <a:lvl3pPr marL="45720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3pPr>
            <a:lvl4pPr marL="68580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4pPr>
            <a:lvl5pPr marL="91440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5pPr>
            <a:lvl6pPr marL="114300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6pPr>
            <a:lvl7pPr marL="137160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7pPr>
            <a:lvl8pPr marL="160020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8pPr>
            <a:lvl9pPr marL="182880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D866-D92B-4FCA-B48C-AE2C6DD172F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714500" y="10668003"/>
            <a:ext cx="15144750" cy="30173087"/>
          </a:xfrm>
        </p:spPr>
        <p:txBody>
          <a:bodyPr/>
          <a:lstStyle>
            <a:lvl1pPr>
              <a:defRPr sz="14000"/>
            </a:lvl1pPr>
            <a:lvl2pPr>
              <a:defRPr sz="12000"/>
            </a:lvl2pPr>
            <a:lvl3pPr>
              <a:defRPr sz="100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7430750" y="10668003"/>
            <a:ext cx="15144750" cy="30173087"/>
          </a:xfrm>
        </p:spPr>
        <p:txBody>
          <a:bodyPr/>
          <a:lstStyle>
            <a:lvl1pPr>
              <a:defRPr sz="14000"/>
            </a:lvl1pPr>
            <a:lvl2pPr>
              <a:defRPr sz="12000"/>
            </a:lvl2pPr>
            <a:lvl3pPr>
              <a:defRPr sz="100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6C28F-2C12-41BC-AB40-886293AE055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14500" y="10234087"/>
            <a:ext cx="15150705" cy="4265080"/>
          </a:xfrm>
        </p:spPr>
        <p:txBody>
          <a:bodyPr anchor="b"/>
          <a:lstStyle>
            <a:lvl1pPr marL="0" indent="0">
              <a:buNone/>
              <a:defRPr sz="12000" b="1"/>
            </a:lvl1pPr>
            <a:lvl2pPr marL="2286000" indent="0">
              <a:buNone/>
              <a:defRPr sz="10000" b="1"/>
            </a:lvl2pPr>
            <a:lvl3pPr marL="4572000" indent="0">
              <a:buNone/>
              <a:defRPr sz="9000" b="1"/>
            </a:lvl3pPr>
            <a:lvl4pPr marL="6858000" indent="0">
              <a:buNone/>
              <a:defRPr sz="8000" b="1"/>
            </a:lvl4pPr>
            <a:lvl5pPr marL="9144000" indent="0">
              <a:buNone/>
              <a:defRPr sz="8000" b="1"/>
            </a:lvl5pPr>
            <a:lvl6pPr marL="11430000" indent="0">
              <a:buNone/>
              <a:defRPr sz="8000" b="1"/>
            </a:lvl6pPr>
            <a:lvl7pPr marL="13716000" indent="0">
              <a:buNone/>
              <a:defRPr sz="8000" b="1"/>
            </a:lvl7pPr>
            <a:lvl8pPr marL="16002000" indent="0">
              <a:buNone/>
              <a:defRPr sz="8000" b="1"/>
            </a:lvl8pPr>
            <a:lvl9pPr marL="18288000" indent="0">
              <a:buNone/>
              <a:defRPr sz="80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714500" y="14499167"/>
            <a:ext cx="15150705" cy="26341920"/>
          </a:xfrm>
        </p:spPr>
        <p:txBody>
          <a:bodyPr/>
          <a:lstStyle>
            <a:lvl1pPr>
              <a:defRPr sz="12000"/>
            </a:lvl1pPr>
            <a:lvl2pPr>
              <a:defRPr sz="10000"/>
            </a:lvl2pPr>
            <a:lvl3pPr>
              <a:defRPr sz="90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7418846" y="10234087"/>
            <a:ext cx="15156656" cy="4265080"/>
          </a:xfrm>
        </p:spPr>
        <p:txBody>
          <a:bodyPr anchor="b"/>
          <a:lstStyle>
            <a:lvl1pPr marL="0" indent="0">
              <a:buNone/>
              <a:defRPr sz="12000" b="1"/>
            </a:lvl1pPr>
            <a:lvl2pPr marL="2286000" indent="0">
              <a:buNone/>
              <a:defRPr sz="10000" b="1"/>
            </a:lvl2pPr>
            <a:lvl3pPr marL="4572000" indent="0">
              <a:buNone/>
              <a:defRPr sz="9000" b="1"/>
            </a:lvl3pPr>
            <a:lvl4pPr marL="6858000" indent="0">
              <a:buNone/>
              <a:defRPr sz="8000" b="1"/>
            </a:lvl4pPr>
            <a:lvl5pPr marL="9144000" indent="0">
              <a:buNone/>
              <a:defRPr sz="8000" b="1"/>
            </a:lvl5pPr>
            <a:lvl6pPr marL="11430000" indent="0">
              <a:buNone/>
              <a:defRPr sz="8000" b="1"/>
            </a:lvl6pPr>
            <a:lvl7pPr marL="13716000" indent="0">
              <a:buNone/>
              <a:defRPr sz="8000" b="1"/>
            </a:lvl7pPr>
            <a:lvl8pPr marL="16002000" indent="0">
              <a:buNone/>
              <a:defRPr sz="8000" b="1"/>
            </a:lvl8pPr>
            <a:lvl9pPr marL="18288000" indent="0">
              <a:buNone/>
              <a:defRPr sz="80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7418846" y="14499167"/>
            <a:ext cx="15156656" cy="26341920"/>
          </a:xfrm>
        </p:spPr>
        <p:txBody>
          <a:bodyPr/>
          <a:lstStyle>
            <a:lvl1pPr>
              <a:defRPr sz="12000"/>
            </a:lvl1pPr>
            <a:lvl2pPr>
              <a:defRPr sz="10000"/>
            </a:lvl2pPr>
            <a:lvl3pPr>
              <a:defRPr sz="90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D2C91-A3DD-42AC-9F33-374ECC0790F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38F5-823F-4BCB-8917-13B9D74B292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74E-1F6E-45C7-B90C-9104ABDA9D5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4502" y="1820333"/>
            <a:ext cx="11281174" cy="7747000"/>
          </a:xfrm>
        </p:spPr>
        <p:txBody>
          <a:bodyPr anchor="b"/>
          <a:lstStyle>
            <a:lvl1pPr algn="l">
              <a:defRPr sz="10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406437" y="1820337"/>
            <a:ext cx="19169063" cy="39020753"/>
          </a:xfrm>
        </p:spPr>
        <p:txBody>
          <a:bodyPr/>
          <a:lstStyle>
            <a:lvl1pPr>
              <a:defRPr sz="16000"/>
            </a:lvl1pPr>
            <a:lvl2pPr>
              <a:defRPr sz="14000"/>
            </a:lvl2pPr>
            <a:lvl3pPr>
              <a:defRPr sz="12000"/>
            </a:lvl3pPr>
            <a:lvl4pPr>
              <a:defRPr sz="10000"/>
            </a:lvl4pPr>
            <a:lvl5pPr>
              <a:defRPr sz="10000"/>
            </a:lvl5pPr>
            <a:lvl6pPr>
              <a:defRPr sz="10000"/>
            </a:lvl6pPr>
            <a:lvl7pPr>
              <a:defRPr sz="10000"/>
            </a:lvl7pPr>
            <a:lvl8pPr>
              <a:defRPr sz="10000"/>
            </a:lvl8pPr>
            <a:lvl9pPr>
              <a:defRPr sz="10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14502" y="9567337"/>
            <a:ext cx="11281174" cy="31273753"/>
          </a:xfrm>
        </p:spPr>
        <p:txBody>
          <a:bodyPr/>
          <a:lstStyle>
            <a:lvl1pPr marL="0" indent="0">
              <a:buNone/>
              <a:defRPr sz="7000"/>
            </a:lvl1pPr>
            <a:lvl2pPr marL="2286000" indent="0">
              <a:buNone/>
              <a:defRPr sz="6000"/>
            </a:lvl2pPr>
            <a:lvl3pPr marL="4572000" indent="0">
              <a:buNone/>
              <a:defRPr sz="5000"/>
            </a:lvl3pPr>
            <a:lvl4pPr marL="6858000" indent="0">
              <a:buNone/>
              <a:defRPr sz="4500"/>
            </a:lvl4pPr>
            <a:lvl5pPr marL="9144000" indent="0">
              <a:buNone/>
              <a:defRPr sz="4500"/>
            </a:lvl5pPr>
            <a:lvl6pPr marL="11430000" indent="0">
              <a:buNone/>
              <a:defRPr sz="4500"/>
            </a:lvl6pPr>
            <a:lvl7pPr marL="13716000" indent="0">
              <a:buNone/>
              <a:defRPr sz="4500"/>
            </a:lvl7pPr>
            <a:lvl8pPr marL="16002000" indent="0">
              <a:buNone/>
              <a:defRPr sz="4500"/>
            </a:lvl8pPr>
            <a:lvl9pPr marL="18288000" indent="0">
              <a:buNone/>
              <a:defRPr sz="45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E983-6033-48F2-8887-42FD5DD41BF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21080" y="32004000"/>
            <a:ext cx="20574000" cy="3778253"/>
          </a:xfrm>
        </p:spPr>
        <p:txBody>
          <a:bodyPr anchor="b"/>
          <a:lstStyle>
            <a:lvl1pPr algn="l">
              <a:defRPr sz="10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721080" y="4085167"/>
            <a:ext cx="20574000" cy="27432000"/>
          </a:xfrm>
        </p:spPr>
        <p:txBody>
          <a:bodyPr/>
          <a:lstStyle>
            <a:lvl1pPr marL="0" indent="0">
              <a:buNone/>
              <a:defRPr sz="16000"/>
            </a:lvl1pPr>
            <a:lvl2pPr marL="2286000" indent="0">
              <a:buNone/>
              <a:defRPr sz="14000"/>
            </a:lvl2pPr>
            <a:lvl3pPr marL="4572000" indent="0">
              <a:buNone/>
              <a:defRPr sz="12000"/>
            </a:lvl3pPr>
            <a:lvl4pPr marL="6858000" indent="0">
              <a:buNone/>
              <a:defRPr sz="10000"/>
            </a:lvl4pPr>
            <a:lvl5pPr marL="9144000" indent="0">
              <a:buNone/>
              <a:defRPr sz="10000"/>
            </a:lvl5pPr>
            <a:lvl6pPr marL="11430000" indent="0">
              <a:buNone/>
              <a:defRPr sz="10000"/>
            </a:lvl6pPr>
            <a:lvl7pPr marL="13716000" indent="0">
              <a:buNone/>
              <a:defRPr sz="10000"/>
            </a:lvl7pPr>
            <a:lvl8pPr marL="16002000" indent="0">
              <a:buNone/>
              <a:defRPr sz="10000"/>
            </a:lvl8pPr>
            <a:lvl9pPr marL="18288000" indent="0">
              <a:buNone/>
              <a:defRPr sz="10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21080" y="35782253"/>
            <a:ext cx="20574000" cy="5365747"/>
          </a:xfrm>
        </p:spPr>
        <p:txBody>
          <a:bodyPr/>
          <a:lstStyle>
            <a:lvl1pPr marL="0" indent="0">
              <a:buNone/>
              <a:defRPr sz="7000"/>
            </a:lvl1pPr>
            <a:lvl2pPr marL="2286000" indent="0">
              <a:buNone/>
              <a:defRPr sz="6000"/>
            </a:lvl2pPr>
            <a:lvl3pPr marL="4572000" indent="0">
              <a:buNone/>
              <a:defRPr sz="5000"/>
            </a:lvl3pPr>
            <a:lvl4pPr marL="6858000" indent="0">
              <a:buNone/>
              <a:defRPr sz="4500"/>
            </a:lvl4pPr>
            <a:lvl5pPr marL="9144000" indent="0">
              <a:buNone/>
              <a:defRPr sz="4500"/>
            </a:lvl5pPr>
            <a:lvl6pPr marL="11430000" indent="0">
              <a:buNone/>
              <a:defRPr sz="4500"/>
            </a:lvl6pPr>
            <a:lvl7pPr marL="13716000" indent="0">
              <a:buNone/>
              <a:defRPr sz="4500"/>
            </a:lvl7pPr>
            <a:lvl8pPr marL="16002000" indent="0">
              <a:buNone/>
              <a:defRPr sz="4500"/>
            </a:lvl8pPr>
            <a:lvl9pPr marL="18288000" indent="0">
              <a:buNone/>
              <a:defRPr sz="45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B1289-5776-42C0-A717-AB66EAE2EAE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4859-66ED-4C53-B74F-28EA0E78DE0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4860250" y="1830923"/>
            <a:ext cx="7715250" cy="39010167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714500" y="1830923"/>
            <a:ext cx="22574250" cy="39010167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8F18-E911-47CC-BEAF-FF57E6FBC0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714500" y="1830920"/>
            <a:ext cx="30861000" cy="7620000"/>
          </a:xfrm>
          <a:prstGeom prst="rect">
            <a:avLst/>
          </a:prstGeom>
        </p:spPr>
        <p:txBody>
          <a:bodyPr vert="horz" lIns="457200" tIns="228600" rIns="457200" bIns="22860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14500" y="10668003"/>
            <a:ext cx="30861000" cy="30173087"/>
          </a:xfrm>
          <a:prstGeom prst="rect">
            <a:avLst/>
          </a:prstGeom>
        </p:spPr>
        <p:txBody>
          <a:bodyPr vert="horz" lIns="457200" tIns="228600" rIns="457200" bIns="22860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714500" y="42375670"/>
            <a:ext cx="8001000" cy="2434167"/>
          </a:xfrm>
          <a:prstGeom prst="rect">
            <a:avLst/>
          </a:prstGeom>
        </p:spPr>
        <p:txBody>
          <a:bodyPr vert="horz" lIns="457200" tIns="228600" rIns="457200" bIns="228600" rtlCol="0" anchor="ctr"/>
          <a:lstStyle>
            <a:lvl1pPr algn="l">
              <a:defRPr sz="6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715750" y="42375670"/>
            <a:ext cx="10858500" cy="2434167"/>
          </a:xfrm>
          <a:prstGeom prst="rect">
            <a:avLst/>
          </a:prstGeom>
        </p:spPr>
        <p:txBody>
          <a:bodyPr vert="horz" lIns="457200" tIns="228600" rIns="457200" bIns="228600" rtlCol="0" anchor="ctr"/>
          <a:lstStyle>
            <a:lvl1pPr algn="ctr">
              <a:defRPr sz="6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4574500" y="42375670"/>
            <a:ext cx="8001000" cy="2434167"/>
          </a:xfrm>
          <a:prstGeom prst="rect">
            <a:avLst/>
          </a:prstGeom>
        </p:spPr>
        <p:txBody>
          <a:bodyPr vert="horz" lIns="457200" tIns="228600" rIns="457200" bIns="228600" rtlCol="0" anchor="ctr"/>
          <a:lstStyle>
            <a:lvl1pPr algn="r">
              <a:defRPr sz="6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B7236-9D02-45A2-A79A-5938D34E10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0" rtl="0" eaLnBrk="1" latinLnBrk="0" hangingPunct="1">
        <a:spcBef>
          <a:spcPct val="0"/>
        </a:spcBef>
        <a:buNone/>
        <a:defRPr sz="2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0" indent="-1714500" algn="l" defTabSz="4572000" rtl="0" eaLnBrk="1" latinLnBrk="0" hangingPunct="1">
        <a:spcBef>
          <a:spcPct val="20000"/>
        </a:spcBef>
        <a:buFont typeface="Arial" pitchFamily="34" charset="0"/>
        <a:buChar char="•"/>
        <a:defRPr sz="160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0" indent="-1428750" algn="l" defTabSz="4572000" rtl="0" eaLnBrk="1" latinLnBrk="0" hangingPunct="1">
        <a:spcBef>
          <a:spcPct val="20000"/>
        </a:spcBef>
        <a:buFont typeface="Arial" pitchFamily="34" charset="0"/>
        <a:buChar char="–"/>
        <a:defRPr sz="140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0" indent="-1143000" algn="l" defTabSz="4572000" rtl="0" eaLnBrk="1" latinLnBrk="0" hangingPunct="1">
        <a:spcBef>
          <a:spcPct val="20000"/>
        </a:spcBef>
        <a:buFont typeface="Arial" pitchFamily="34" charset="0"/>
        <a:buChar char="•"/>
        <a:defRPr sz="12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0" indent="-1143000" algn="l" defTabSz="4572000" rtl="0" eaLnBrk="1" latinLnBrk="0" hangingPunct="1">
        <a:spcBef>
          <a:spcPct val="20000"/>
        </a:spcBef>
        <a:buFont typeface="Arial" pitchFamily="34" charset="0"/>
        <a:buChar char="–"/>
        <a:defRPr sz="10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0" indent="-1143000" algn="l" defTabSz="4572000" rtl="0" eaLnBrk="1" latinLnBrk="0" hangingPunct="1">
        <a:spcBef>
          <a:spcPct val="20000"/>
        </a:spcBef>
        <a:buFont typeface="Arial" pitchFamily="34" charset="0"/>
        <a:buChar char="»"/>
        <a:defRPr sz="10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0" indent="-1143000" algn="l" defTabSz="4572000" rtl="0" eaLnBrk="1" latinLnBrk="0" hangingPunct="1">
        <a:spcBef>
          <a:spcPct val="20000"/>
        </a:spcBef>
        <a:buFont typeface="Arial" pitchFamily="34" charset="0"/>
        <a:buChar char="•"/>
        <a:defRPr sz="10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0" indent="-1143000" algn="l" defTabSz="4572000" rtl="0" eaLnBrk="1" latinLnBrk="0" hangingPunct="1">
        <a:spcBef>
          <a:spcPct val="20000"/>
        </a:spcBef>
        <a:buFont typeface="Arial" pitchFamily="34" charset="0"/>
        <a:buChar char="•"/>
        <a:defRPr sz="10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0" indent="-1143000" algn="l" defTabSz="4572000" rtl="0" eaLnBrk="1" latinLnBrk="0" hangingPunct="1">
        <a:spcBef>
          <a:spcPct val="20000"/>
        </a:spcBef>
        <a:buFont typeface="Arial" pitchFamily="34" charset="0"/>
        <a:buChar char="•"/>
        <a:defRPr sz="10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0" indent="-1143000" algn="l" defTabSz="4572000" rtl="0" eaLnBrk="1" latinLnBrk="0" hangingPunct="1">
        <a:spcBef>
          <a:spcPct val="20000"/>
        </a:spcBef>
        <a:buFont typeface="Arial" pitchFamily="34" charset="0"/>
        <a:buChar char="•"/>
        <a:defRPr sz="10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hyperlink" Target="https://hdl.handle.net/10438/27954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6.svg"/><Relationship Id="rId5" Type="http://schemas.openxmlformats.org/officeDocument/2006/relationships/hyperlink" Target="https://hdl.handle.net/10438/30660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hdl.handle.net/10438/33077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aixaDeTexto 53">
            <a:extLst>
              <a:ext uri="{FF2B5EF4-FFF2-40B4-BE49-F238E27FC236}">
                <a16:creationId xmlns:a16="http://schemas.microsoft.com/office/drawing/2014/main" id="{226081DE-0AC9-4AD0-94F2-2BF63A631D34}"/>
              </a:ext>
            </a:extLst>
          </p:cNvPr>
          <p:cNvSpPr txBox="1"/>
          <p:nvPr/>
        </p:nvSpPr>
        <p:spPr>
          <a:xfrm>
            <a:off x="941034" y="39709872"/>
            <a:ext cx="32477771" cy="783193"/>
          </a:xfrm>
          <a:prstGeom prst="roundRect">
            <a:avLst/>
          </a:prstGeom>
          <a:solidFill>
            <a:srgbClr val="FFAA2D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12202" name="Rectangle 1962"/>
          <p:cNvSpPr>
            <a:spLocks noChangeArrowheads="1"/>
          </p:cNvSpPr>
          <p:nvPr/>
        </p:nvSpPr>
        <p:spPr bwMode="auto">
          <a:xfrm>
            <a:off x="0" y="-381000"/>
            <a:ext cx="34290000" cy="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3964" name="Text Box 3484"/>
          <p:cNvSpPr txBox="1">
            <a:spLocks noChangeArrowheads="1"/>
          </p:cNvSpPr>
          <p:nvPr/>
        </p:nvSpPr>
        <p:spPr bwMode="auto">
          <a:xfrm>
            <a:off x="18211800" y="28128197"/>
            <a:ext cx="147828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sz="2600" dirty="0">
                <a:latin typeface="Arial" pitchFamily="34" charset="0"/>
              </a:rPr>
              <a:t>	</a:t>
            </a:r>
            <a:endParaRPr lang="pt-BR" dirty="0">
              <a:latin typeface="Arial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1905000" y="1478136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5410200" y="4180344"/>
            <a:ext cx="21259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4200" b="1" i="0" u="none" strike="noStrike" cap="none" normalizeH="0" baseline="0" dirty="0">
              <a:ln>
                <a:noFill/>
              </a:ln>
              <a:solidFill>
                <a:srgbClr val="0066CC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539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4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Rectangle 2245"/>
          <p:cNvSpPr>
            <a:spLocks noChangeArrowheads="1"/>
          </p:cNvSpPr>
          <p:nvPr/>
        </p:nvSpPr>
        <p:spPr bwMode="auto">
          <a:xfrm>
            <a:off x="1143000" y="11795456"/>
            <a:ext cx="1524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pt-PT" dirty="0">
                <a:cs typeface="Times New Roman" pitchFamily="18" charset="0"/>
              </a:rPr>
              <a:t>  </a:t>
            </a:r>
            <a:endParaRPr lang="en-GB" dirty="0">
              <a:cs typeface="Times New Roman" pitchFamily="18" charset="0"/>
            </a:endParaRPr>
          </a:p>
        </p:txBody>
      </p:sp>
      <p:sp>
        <p:nvSpPr>
          <p:cNvPr id="58" name="Retângulo 57"/>
          <p:cNvSpPr/>
          <p:nvPr/>
        </p:nvSpPr>
        <p:spPr>
          <a:xfrm>
            <a:off x="19278600" y="11123765"/>
            <a:ext cx="13792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just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Retângulo 101"/>
          <p:cNvSpPr/>
          <p:nvPr/>
        </p:nvSpPr>
        <p:spPr>
          <a:xfrm>
            <a:off x="939290" y="6712253"/>
            <a:ext cx="32205197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66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BOXES – sistema web de </a:t>
            </a:r>
            <a:r>
              <a:rPr lang="pt-BR" sz="6600" b="1" dirty="0" err="1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microsserviços</a:t>
            </a:r>
            <a:r>
              <a:rPr lang="pt-BR" sz="66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gestão empresarial de buffets</a:t>
            </a:r>
          </a:p>
          <a:p>
            <a:endParaRPr lang="pt-BR" sz="2000" b="1" dirty="0">
              <a:solidFill>
                <a:srgbClr val="0066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GONÇALVES, Bruno M.</a:t>
            </a:r>
            <a:r>
              <a:rPr lang="pt-BR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; CRUZ FILHO, José Marcos S.; ARGOLO, Kelvin G.</a:t>
            </a:r>
            <a:r>
              <a:rPr lang="pt-BR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; MATOS, Lucas M.C.</a:t>
            </a:r>
            <a:r>
              <a:rPr lang="pt-BR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; SILVA, Vinicius A.</a:t>
            </a:r>
            <a:r>
              <a:rPr lang="pt-BR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3200" dirty="0">
                <a:solidFill>
                  <a:srgbClr val="314496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endParaRPr lang="pt-BR" sz="32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Orientador Prof. MARQUES, Erik C.</a:t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314496"/>
                </a:solidFill>
                <a:effectLst/>
                <a:uLnTx/>
                <a:uFillTx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endParaRPr lang="pt-BR" sz="4400" baseline="30000" dirty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endParaRPr lang="pt-BR" sz="2400" baseline="30000" dirty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r>
              <a:rPr lang="pt-BR" sz="3200" baseline="300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1</a:t>
            </a:r>
            <a:r>
              <a:rPr lang="pt-BR" sz="32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Alunos do Curso Técnico</a:t>
            </a:r>
            <a:r>
              <a:rPr lang="pt-BR" sz="3200" dirty="0">
                <a:solidFill>
                  <a:srgbClr val="FF000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 Desenvolvimento de Sistemas </a:t>
            </a:r>
            <a:r>
              <a:rPr lang="pt-BR" sz="32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ministrado pelo SENAI Feira de Santana</a:t>
            </a:r>
            <a:r>
              <a:rPr lang="pt-BR" sz="3200" dirty="0">
                <a:solidFill>
                  <a:srgbClr val="314496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-</a:t>
            </a:r>
            <a:r>
              <a:rPr lang="pt-BR" sz="3200" dirty="0">
                <a:solidFill>
                  <a:srgbClr val="FF000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Bahia,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matriculados</a:t>
            </a:r>
            <a:r>
              <a:rPr lang="pt-BR" sz="32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na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Turma G79981. luckasz.mendes@gmail.com</a:t>
            </a:r>
          </a:p>
          <a:p>
            <a:pPr>
              <a:tabLst>
                <a:tab pos="2700338" algn="ctr"/>
                <a:tab pos="5400675" algn="r"/>
              </a:tabLst>
            </a:pPr>
            <a:r>
              <a:rPr lang="pt-BR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Docente  do Curso Técnico de Desenvolvimento de Sistemas – SENAI Feira de Santana - Bahia. proferikmarques@gmail.com</a:t>
            </a:r>
          </a:p>
        </p:txBody>
      </p:sp>
      <p:sp>
        <p:nvSpPr>
          <p:cNvPr id="96" name="CaixaDeTexto 95"/>
          <p:cNvSpPr txBox="1"/>
          <p:nvPr/>
        </p:nvSpPr>
        <p:spPr>
          <a:xfrm>
            <a:off x="1016600" y="40645976"/>
            <a:ext cx="3240220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NOVALO, Esther Regina. Inovação em serviços: o processo de inovação nos pequenos negócios de alimentação. Fundação Getúlio Vargas, São Paulo, 2019. Disponível em: </a:t>
            </a:r>
            <a:r>
              <a:rPr lang="pt-BR" sz="3200" b="0" i="0" u="none" strike="noStrike" dirty="0">
                <a:solidFill>
                  <a:srgbClr val="3781C3"/>
                </a:solidFill>
                <a:effectLst/>
                <a:latin typeface="Segoe UI" panose="020B0502040204020203" pitchFamily="34" charset="0"/>
                <a:hlinkClick r:id="rId3"/>
              </a:rPr>
              <a:t>https://hdl.handle.net/10438/27954</a:t>
            </a:r>
            <a:r>
              <a:rPr lang="pt-BR" sz="3200" b="0" i="0" u="none" strike="noStrike" dirty="0">
                <a:solidFill>
                  <a:srgbClr val="3781C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Acesso em: 09 abr. 2023.</a:t>
            </a:r>
          </a:p>
          <a:p>
            <a:pPr algn="l"/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OHZEKI, Mauro. Implementação da transformação digital: a influência da gestão da mudança organizacional. Fundação Getúlio Vargas, São Paulo, 2022. Disponível em: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http://hdl.handle.net/10438/33077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Acesso em: 11 abr. 2023. </a:t>
            </a:r>
          </a:p>
          <a:p>
            <a:pPr algn="just"/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RIBEIRO, Fabio Calegari. Foco no cliente em times de desenvolvimento de software: um estudo quantitativo. Fundação Getúlio Vargas, São Paulo, 2021. Disponível em: </a:t>
            </a:r>
            <a:r>
              <a:rPr lang="pt-BR" sz="3200" b="0" i="0" u="sng" dirty="0">
                <a:solidFill>
                  <a:srgbClr val="265A87"/>
                </a:solidFill>
                <a:effectLst/>
                <a:latin typeface="Segoe UI" panose="020B0502040204020203" pitchFamily="34" charset="0"/>
                <a:hlinkClick r:id="rId5"/>
              </a:rPr>
              <a:t>https://hdl.handle.net/10438/30660</a:t>
            </a:r>
            <a:r>
              <a:rPr lang="pt-BR" sz="3200" b="0" i="0" u="sng" dirty="0">
                <a:solidFill>
                  <a:srgbClr val="265A87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Acesso em: 09 abr. 2023</a:t>
            </a:r>
          </a:p>
          <a:p>
            <a:pPr algn="just"/>
            <a:endParaRPr lang="pt-BR" sz="3000" dirty="0">
              <a:solidFill>
                <a:srgbClr val="FF0000"/>
              </a:solidFill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17682103" y="12855004"/>
            <a:ext cx="1534367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400" dirty="0">
                <a:latin typeface="Arial" panose="020B0604020202020204" pitchFamily="34" charset="0"/>
                <a:cs typeface="Arial" panose="020B0604020202020204" pitchFamily="34" charset="0"/>
              </a:rPr>
              <a:t>A pesquisa teve natureza aplicada, visando solucionar um problema real das microempresas, que é a gestão eficiente de processos e a competitividade no mercado. A abordagem qualitativa permitiu uma análise detalhada dos dados coletados, enquanto os objetivos exploratórios buscaram levantar informações preliminares sobre o contexto do negócio e os descritivos descreveram as características e funcionalidades do sistema desenvolvido. Os procedimentos de pesquisa documental e levantamento foram utilizados para coletar dados secundários sobre o mercado de buffet de festas, a gestão empresarial e o uso de sistemas de informação nesse contexto, além de uma pesquisa de campo para coletar informações sobre as necessidades e desafios dos microempreendedores individuais.</a:t>
            </a:r>
          </a:p>
        </p:txBody>
      </p:sp>
      <p:sp>
        <p:nvSpPr>
          <p:cNvPr id="91" name="CaixaDeTexto 90"/>
          <p:cNvSpPr txBox="1"/>
          <p:nvPr/>
        </p:nvSpPr>
        <p:spPr>
          <a:xfrm>
            <a:off x="1194131" y="12773069"/>
            <a:ext cx="153398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Microempreendedores individuais que trabalham com buffet de festas frequentemente precisam gerenciar diversos aspectos do negócio, como estoque, pedidos, financeiro e agendamento de eventos, o que pode ser complexo e demandar muito tempo e esforço.</a:t>
            </a:r>
            <a:r>
              <a:rPr lang="pt-BR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Além disso, pode haver problemas de comunicação entre as diferentes áreas do negócio, o que pode gerar erros e atrasos.</a:t>
            </a:r>
            <a:r>
              <a:rPr lang="pt-BR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 resultado esperado com o nosso sistema gestão empresarial de buffet de festas para microempreendedor individual é apresentar uma solução para ajudar essas empresas a superar as dificuldades listadas e se tornarem mais eficientes e competitivas no mercado.</a:t>
            </a:r>
            <a:r>
              <a:rPr lang="pt-BR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943200" y="11848981"/>
            <a:ext cx="15841760" cy="783193"/>
          </a:xfrm>
          <a:prstGeom prst="roundRect">
            <a:avLst/>
          </a:prstGeom>
          <a:solidFill>
            <a:srgbClr val="FFAA2D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24325" name="Rectangle 3845"/>
          <p:cNvSpPr>
            <a:spLocks noChangeArrowheads="1"/>
          </p:cNvSpPr>
          <p:nvPr/>
        </p:nvSpPr>
        <p:spPr bwMode="auto">
          <a:xfrm>
            <a:off x="1367866" y="23876297"/>
            <a:ext cx="1520945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sistemaWEB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proposto apresenta diversas funcionalidades que visam auxiliar microempreendedores individuais na gestão de suas empresas. Dentre elas: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964984" y="19117843"/>
            <a:ext cx="15819603" cy="783193"/>
          </a:xfrm>
          <a:prstGeom prst="roundRect">
            <a:avLst/>
          </a:prstGeom>
          <a:solidFill>
            <a:srgbClr val="FFAA2D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EAE75CFE-33C5-4AF2-9B60-147DB0ED5D30}"/>
              </a:ext>
            </a:extLst>
          </p:cNvPr>
          <p:cNvSpPr txBox="1"/>
          <p:nvPr/>
        </p:nvSpPr>
        <p:spPr>
          <a:xfrm>
            <a:off x="17427360" y="11848981"/>
            <a:ext cx="15841760" cy="783193"/>
          </a:xfrm>
          <a:prstGeom prst="roundRect">
            <a:avLst/>
          </a:prstGeom>
          <a:solidFill>
            <a:srgbClr val="FFAA2D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C2C4573-BE22-43AB-B569-0A3B8AEEEC50}"/>
              </a:ext>
            </a:extLst>
          </p:cNvPr>
          <p:cNvSpPr txBox="1"/>
          <p:nvPr/>
        </p:nvSpPr>
        <p:spPr>
          <a:xfrm>
            <a:off x="1016600" y="22768301"/>
            <a:ext cx="32241442" cy="812873"/>
          </a:xfrm>
          <a:prstGeom prst="roundRect">
            <a:avLst/>
          </a:prstGeom>
          <a:solidFill>
            <a:srgbClr val="FFAA2D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26" name="Rectangle 3845">
            <a:extLst>
              <a:ext uri="{FF2B5EF4-FFF2-40B4-BE49-F238E27FC236}">
                <a16:creationId xmlns:a16="http://schemas.microsoft.com/office/drawing/2014/main" id="{235B0833-C6CE-4EB3-8014-CF9C03994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6253" y="19953546"/>
            <a:ext cx="1520945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Como o desenvolvimento de um sistema de informação personalizado pode contribuir para a melhoria da gestão empresarial em microempresas?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D441546-8085-41F8-A97E-2EBA8DCC3DE9}"/>
              </a:ext>
            </a:extLst>
          </p:cNvPr>
          <p:cNvSpPr txBox="1"/>
          <p:nvPr/>
        </p:nvSpPr>
        <p:spPr>
          <a:xfrm>
            <a:off x="17438439" y="19117843"/>
            <a:ext cx="15819603" cy="783193"/>
          </a:xfrm>
          <a:prstGeom prst="roundRect">
            <a:avLst/>
          </a:prstGeom>
          <a:solidFill>
            <a:srgbClr val="FFAA2D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PESQUISA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3BF34D7-372A-44E8-9112-8482031689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236"/>
            <a:ext cx="34290000" cy="540314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12B616DA-7F2F-1C66-0011-6F55C8B39B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5040" y="24095168"/>
            <a:ext cx="2950173" cy="9810309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33451FBE-3F3B-D6BE-60CE-978DEF14AA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8088" y="24082443"/>
            <a:ext cx="2942459" cy="8560594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E70FB933-34F4-1A4B-E7E4-3859439A55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7408" y="24095168"/>
            <a:ext cx="2937257" cy="11459217"/>
          </a:xfrm>
          <a:prstGeom prst="rect">
            <a:avLst/>
          </a:prstGeom>
        </p:spPr>
      </p:pic>
      <p:sp>
        <p:nvSpPr>
          <p:cNvPr id="35" name="Rectangle 3845">
            <a:extLst>
              <a:ext uri="{FF2B5EF4-FFF2-40B4-BE49-F238E27FC236}">
                <a16:creationId xmlns:a16="http://schemas.microsoft.com/office/drawing/2014/main" id="{0DF4A61E-DCA2-C965-54D9-CBAA56F4C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866" y="20068200"/>
            <a:ext cx="15209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Auxiliar microempreendedores individuais na gestão financeira de suas empresas; Facilitar o controle de estoques, fornecedores e clientes, otimizando a gestão; Oferecer uma plataforma intuitiva e acessível, que possa ser utilizada por quem tem pouco conhecimento técnico em informática;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845">
            <a:extLst>
              <a:ext uri="{FF2B5EF4-FFF2-40B4-BE49-F238E27FC236}">
                <a16:creationId xmlns:a16="http://schemas.microsoft.com/office/drawing/2014/main" id="{E85AA82E-C622-BA3B-870E-CE98C15C0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574" y="25670193"/>
            <a:ext cx="15209454" cy="895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ou painel geral, que contém as principais informações da gestão, permitindo que o usuário tenha uma visão global do seu negócio.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Controle Financeiro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que possibilita o registro de receitas e despesas, e o controle de pedidos pagos, permitindo uma melhor organização das finanças da empresa.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Cadastro de Produto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Controle de Estoque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Dessa forma, o usuário pode cadastrar seus produtos e acompanhar o estoque disponível, garantindo que não ocorram faltas ou excessos.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 Cadastro de Cliente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permitindo que mantenha um registro atualizado dos seus clientes e possa realizar ações de fidelização e marketing.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Cadastro de Pedidos e Orçamentos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registra os pedidos e orçamentos realizados pelos clientes e envia-os em PDF por e-mail ou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whatsapp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garantindo uma maior praticidade e rapidez no processo de comunicação com o cliente.</a:t>
            </a:r>
          </a:p>
        </p:txBody>
      </p:sp>
      <p:sp>
        <p:nvSpPr>
          <p:cNvPr id="38" name="Rectangle 3845">
            <a:extLst>
              <a:ext uri="{FF2B5EF4-FFF2-40B4-BE49-F238E27FC236}">
                <a16:creationId xmlns:a16="http://schemas.microsoft.com/office/drawing/2014/main" id="{F8C2A6BF-9468-DB85-389A-0A36DC2D7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5243883"/>
            <a:ext cx="11243728" cy="2482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Ao lado, estão algumas imagens do sistema proposto. É possível acessar o protótipo através do QR-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ao lado ou através do link: </a:t>
            </a:r>
            <a:r>
              <a:rPr lang="pt-BR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https://qrco.de/bdsMpx</a:t>
            </a: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4B9B3741-B1E8-FC3B-FE05-EEBE7292A8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753472" y="35243883"/>
            <a:ext cx="2657475" cy="3448050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62A74088-58BC-73B6-C917-276ACC068F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8820" y="24095168"/>
            <a:ext cx="2880669" cy="13794861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BE6B5BD6-F9E3-670A-270B-0C7E31CE47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7768" y="24082443"/>
            <a:ext cx="2512422" cy="15356675"/>
          </a:xfrm>
          <a:prstGeom prst="rect">
            <a:avLst/>
          </a:prstGeom>
        </p:spPr>
      </p:pic>
    </p:spTree>
  </p:cSld>
  <p:clrMapOvr>
    <a:masterClrMapping/>
  </p:clrMapOvr>
  <p:transition>
    <p:push dir="r"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A92D2230698A4ABF2C63044153AB26" ma:contentTypeVersion="16" ma:contentTypeDescription="Crie um novo documento." ma:contentTypeScope="" ma:versionID="b98e8dc2260cc7a39e31a1810a075ecc">
  <xsd:schema xmlns:xsd="http://www.w3.org/2001/XMLSchema" xmlns:xs="http://www.w3.org/2001/XMLSchema" xmlns:p="http://schemas.microsoft.com/office/2006/metadata/properties" xmlns:ns2="686527b5-8ba7-4ce2-8034-ee96105f0e26" xmlns:ns3="0798beb3-9d6a-467b-b776-ccfc93473710" targetNamespace="http://schemas.microsoft.com/office/2006/metadata/properties" ma:root="true" ma:fieldsID="7a1c28bc412135481b1f26c08b0c5a83" ns2:_="" ns3:_="">
    <xsd:import namespace="686527b5-8ba7-4ce2-8034-ee96105f0e26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527b5-8ba7-4ce2-8034-ee96105f0e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C27C58-FAB6-457C-9BE8-466D679ADB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6FECC4-2F50-4A5D-88D1-46DDC05DF7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6527b5-8ba7-4ce2-8034-ee96105f0e26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10261</TotalTime>
  <Words>739</Words>
  <Application>Microsoft Office PowerPoint</Application>
  <PresentationFormat>Personalizar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Times New Roman</vt:lpstr>
      <vt:lpstr>Tema do Office</vt:lpstr>
      <vt:lpstr>Apresentação do PowerPoint</vt:lpstr>
    </vt:vector>
  </TitlesOfParts>
  <Company>IFUFBA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</dc:creator>
  <cp:lastModifiedBy>Bruno Marques</cp:lastModifiedBy>
  <cp:revision>641</cp:revision>
  <dcterms:created xsi:type="dcterms:W3CDTF">2002-10-30T18:18:40Z</dcterms:created>
  <dcterms:modified xsi:type="dcterms:W3CDTF">2023-04-12T17:07:27Z</dcterms:modified>
</cp:coreProperties>
</file>